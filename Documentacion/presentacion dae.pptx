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Open Sauce Bold" charset="1" panose="00000800000000000000"/>
      <p:regular r:id="rId15"/>
    </p:embeddedFont>
    <p:embeddedFont>
      <p:font typeface="Open Sauce" charset="1" panose="00000500000000000000"/>
      <p:regular r:id="rId16"/>
    </p:embeddedFont>
    <p:embeddedFont>
      <p:font typeface="Open Sauce Medium" charset="1" panose="00000600000000000000"/>
      <p:regular r:id="rId17"/>
    </p:embeddedFont>
    <p:embeddedFont>
      <p:font typeface="Open Sauce Light" charset="1" panose="000004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jpe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5417829" y="-2557831"/>
            <a:ext cx="7401663" cy="18288000"/>
          </a:xfrm>
          <a:custGeom>
            <a:avLst/>
            <a:gdLst/>
            <a:ahLst/>
            <a:cxnLst/>
            <a:rect r="r" b="b" t="t" l="l"/>
            <a:pathLst>
              <a:path h="18288000" w="7401663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016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92426" y="659090"/>
            <a:ext cx="166255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56548" y="661303"/>
            <a:ext cx="1907082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64171" y="661303"/>
            <a:ext cx="158919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Content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97756" y="659090"/>
            <a:ext cx="2224975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Others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8136" y="811215"/>
            <a:ext cx="2256772" cy="363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ConstruGlobal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59747" y="3170733"/>
            <a:ext cx="12747285" cy="391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737"/>
              </a:lnSpc>
              <a:spcBef>
                <a:spcPct val="0"/>
              </a:spcBef>
            </a:pPr>
            <a:r>
              <a:rPr lang="en-US" b="true" sz="11240" spc="-528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Sistema de gestión de personal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173675" y="8457126"/>
            <a:ext cx="1919429" cy="566532"/>
            <a:chOff x="0" y="0"/>
            <a:chExt cx="505529" cy="1492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184285" y="8559734"/>
            <a:ext cx="192541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Next Slide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37781" y="8291665"/>
            <a:ext cx="6184935" cy="217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Henry Josué Vigili González</a:t>
            </a:r>
          </a:p>
          <a:p>
            <a:pPr algn="just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Kelvin Eduardo Cienfuegos Martínez</a:t>
            </a:r>
          </a:p>
          <a:p>
            <a:pPr algn="just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Esaú Adalberto Martínez Vásquez</a:t>
            </a:r>
          </a:p>
          <a:p>
            <a:pPr algn="just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Águila Villatoro, Oscar Mauricio </a:t>
            </a:r>
          </a:p>
          <a:p>
            <a:pPr algn="just">
              <a:lnSpc>
                <a:spcPts val="3461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8496029" y="8835324"/>
            <a:ext cx="1274721" cy="42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-5400000">
            <a:off x="9997172" y="2500334"/>
            <a:ext cx="9145756" cy="9162415"/>
          </a:xfrm>
          <a:custGeom>
            <a:avLst/>
            <a:gdLst/>
            <a:ahLst/>
            <a:cxnLst/>
            <a:rect r="r" b="b" t="t" l="l"/>
            <a:pathLst>
              <a:path h="9162415" w="9145756">
                <a:moveTo>
                  <a:pt x="9145757" y="0"/>
                </a:moveTo>
                <a:lnTo>
                  <a:pt x="0" y="0"/>
                </a:lnTo>
                <a:lnTo>
                  <a:pt x="0" y="9162415"/>
                </a:lnTo>
                <a:lnTo>
                  <a:pt x="9145757" y="9162415"/>
                </a:lnTo>
                <a:lnTo>
                  <a:pt x="914575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04145" y="-2903070"/>
            <a:ext cx="7672410" cy="7672410"/>
          </a:xfrm>
          <a:custGeom>
            <a:avLst/>
            <a:gdLst/>
            <a:ahLst/>
            <a:cxnLst/>
            <a:rect r="r" b="b" t="t" l="l"/>
            <a:pathLst>
              <a:path h="7672410" w="7672410">
                <a:moveTo>
                  <a:pt x="0" y="0"/>
                </a:moveTo>
                <a:lnTo>
                  <a:pt x="7672410" y="0"/>
                </a:lnTo>
                <a:lnTo>
                  <a:pt x="7672410" y="7672410"/>
                </a:lnTo>
                <a:lnTo>
                  <a:pt x="0" y="7672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92426" y="659090"/>
            <a:ext cx="166255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56548" y="661303"/>
            <a:ext cx="1907082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About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64171" y="661303"/>
            <a:ext cx="158919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Content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97756" y="659090"/>
            <a:ext cx="2224975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Others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6321" y="3524652"/>
            <a:ext cx="5262934" cy="986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Problematica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1391" y="5105400"/>
            <a:ext cx="5645093" cy="432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No existe un control digital de asistencia.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Los cálculos de pago se hacen manualmente provocando diferencias entre lo reportado y lo pagado.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La empresa no cuenta con reportes consolidados de asistencia ni planillas de pago automatizadas.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Los empleados por hora y los de salario fijo no están correctamente diferenciados, generando confusión en los cálculos.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1978867" y="570112"/>
            <a:ext cx="6979048" cy="6991760"/>
          </a:xfrm>
          <a:custGeom>
            <a:avLst/>
            <a:gdLst/>
            <a:ahLst/>
            <a:cxnLst/>
            <a:rect r="r" b="b" t="t" l="l"/>
            <a:pathLst>
              <a:path h="6991760" w="6979048">
                <a:moveTo>
                  <a:pt x="6979048" y="0"/>
                </a:moveTo>
                <a:lnTo>
                  <a:pt x="0" y="0"/>
                </a:lnTo>
                <a:lnTo>
                  <a:pt x="0" y="6991760"/>
                </a:lnTo>
                <a:lnTo>
                  <a:pt x="6979048" y="6991760"/>
                </a:lnTo>
                <a:lnTo>
                  <a:pt x="69790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06992" y="5386852"/>
            <a:ext cx="10557087" cy="6024936"/>
            <a:chOff x="0" y="0"/>
            <a:chExt cx="1635569" cy="9334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35569" cy="933420"/>
            </a:xfrm>
            <a:custGeom>
              <a:avLst/>
              <a:gdLst/>
              <a:ahLst/>
              <a:cxnLst/>
              <a:rect r="r" b="b" t="t" l="l"/>
              <a:pathLst>
                <a:path h="933420" w="1635569">
                  <a:moveTo>
                    <a:pt x="57934" y="0"/>
                  </a:moveTo>
                  <a:lnTo>
                    <a:pt x="1577635" y="0"/>
                  </a:lnTo>
                  <a:cubicBezTo>
                    <a:pt x="1609631" y="0"/>
                    <a:pt x="1635569" y="25938"/>
                    <a:pt x="1635569" y="57934"/>
                  </a:cubicBezTo>
                  <a:lnTo>
                    <a:pt x="1635569" y="875486"/>
                  </a:lnTo>
                  <a:cubicBezTo>
                    <a:pt x="1635569" y="890851"/>
                    <a:pt x="1629465" y="905587"/>
                    <a:pt x="1618601" y="916452"/>
                  </a:cubicBezTo>
                  <a:cubicBezTo>
                    <a:pt x="1607736" y="927316"/>
                    <a:pt x="1593000" y="933420"/>
                    <a:pt x="1577635" y="933420"/>
                  </a:cubicBezTo>
                  <a:lnTo>
                    <a:pt x="57934" y="933420"/>
                  </a:lnTo>
                  <a:cubicBezTo>
                    <a:pt x="42569" y="933420"/>
                    <a:pt x="27833" y="927316"/>
                    <a:pt x="16968" y="916452"/>
                  </a:cubicBezTo>
                  <a:cubicBezTo>
                    <a:pt x="6104" y="905587"/>
                    <a:pt x="0" y="890851"/>
                    <a:pt x="0" y="875486"/>
                  </a:cubicBezTo>
                  <a:lnTo>
                    <a:pt x="0" y="57934"/>
                  </a:lnTo>
                  <a:cubicBezTo>
                    <a:pt x="0" y="42569"/>
                    <a:pt x="6104" y="27833"/>
                    <a:pt x="16968" y="16968"/>
                  </a:cubicBezTo>
                  <a:cubicBezTo>
                    <a:pt x="27833" y="6104"/>
                    <a:pt x="42569" y="0"/>
                    <a:pt x="57934" y="0"/>
                  </a:cubicBezTo>
                  <a:close/>
                </a:path>
              </a:pathLst>
            </a:custGeom>
            <a:blipFill>
              <a:blip r:embed="rId4"/>
              <a:stretch>
                <a:fillRect l="-29851" t="-25796" r="0" b="-25796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5425010" y="5590826"/>
            <a:ext cx="1432847" cy="1432847"/>
          </a:xfrm>
          <a:custGeom>
            <a:avLst/>
            <a:gdLst/>
            <a:ahLst/>
            <a:cxnLst/>
            <a:rect r="r" b="b" t="t" l="l"/>
            <a:pathLst>
              <a:path h="1432847" w="1432847">
                <a:moveTo>
                  <a:pt x="0" y="0"/>
                </a:moveTo>
                <a:lnTo>
                  <a:pt x="1432847" y="0"/>
                </a:lnTo>
                <a:lnTo>
                  <a:pt x="1432847" y="1432847"/>
                </a:lnTo>
                <a:lnTo>
                  <a:pt x="0" y="14328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025014" y="4494954"/>
            <a:ext cx="2750861" cy="2750861"/>
          </a:xfrm>
          <a:custGeom>
            <a:avLst/>
            <a:gdLst/>
            <a:ahLst/>
            <a:cxnLst/>
            <a:rect r="r" b="b" t="t" l="l"/>
            <a:pathLst>
              <a:path h="2750861" w="2750861">
                <a:moveTo>
                  <a:pt x="0" y="2750862"/>
                </a:moveTo>
                <a:lnTo>
                  <a:pt x="2750862" y="2750862"/>
                </a:lnTo>
                <a:lnTo>
                  <a:pt x="2750862" y="0"/>
                </a:lnTo>
                <a:lnTo>
                  <a:pt x="0" y="0"/>
                </a:lnTo>
                <a:lnTo>
                  <a:pt x="0" y="275086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592426" y="659090"/>
            <a:ext cx="166255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56548" y="661303"/>
            <a:ext cx="1907082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64171" y="661303"/>
            <a:ext cx="158919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97756" y="659090"/>
            <a:ext cx="2224975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Others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39774" y="650878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77200" y="2063262"/>
            <a:ext cx="6049097" cy="332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El sistema tiene como objetivo automatizar la gestión del personal de obras y administrativo, permitiendo registrar empleados, cargos y asistencias, también permite calcular pagos mensuales basados en la asistencia y tipo de contratación (Ya sea fijo o Por Hora). El sistema busca reducir los errores humanos en el calculo de plantillas, mejorar el control de asistencia y generar reportes precisos de nómina y desempeño laborar.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3976" y="2577878"/>
            <a:ext cx="5152572" cy="72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SOLUCIÓN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7876765" y="319853"/>
            <a:ext cx="10458860" cy="10477911"/>
          </a:xfrm>
          <a:custGeom>
            <a:avLst/>
            <a:gdLst/>
            <a:ahLst/>
            <a:cxnLst/>
            <a:rect r="r" b="b" t="t" l="l"/>
            <a:pathLst>
              <a:path h="10477911" w="10458860">
                <a:moveTo>
                  <a:pt x="10458860" y="0"/>
                </a:moveTo>
                <a:lnTo>
                  <a:pt x="0" y="0"/>
                </a:lnTo>
                <a:lnTo>
                  <a:pt x="0" y="10477911"/>
                </a:lnTo>
                <a:lnTo>
                  <a:pt x="10458860" y="10477911"/>
                </a:lnTo>
                <a:lnTo>
                  <a:pt x="1045886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028700" y="1970882"/>
            <a:ext cx="2750861" cy="2750861"/>
          </a:xfrm>
          <a:custGeom>
            <a:avLst/>
            <a:gdLst/>
            <a:ahLst/>
            <a:cxnLst/>
            <a:rect r="r" b="b" t="t" l="l"/>
            <a:pathLst>
              <a:path h="2750861" w="2750861">
                <a:moveTo>
                  <a:pt x="2750861" y="2750861"/>
                </a:moveTo>
                <a:lnTo>
                  <a:pt x="0" y="2750861"/>
                </a:lnTo>
                <a:lnTo>
                  <a:pt x="0" y="0"/>
                </a:lnTo>
                <a:lnTo>
                  <a:pt x="2750861" y="0"/>
                </a:lnTo>
                <a:lnTo>
                  <a:pt x="2750861" y="275086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992917" y="5839405"/>
            <a:ext cx="10557087" cy="6024936"/>
            <a:chOff x="0" y="0"/>
            <a:chExt cx="1635569" cy="933420"/>
          </a:xfrm>
        </p:grpSpPr>
        <p:sp>
          <p:nvSpPr>
            <p:cNvPr name="Freeform 8" id="8"/>
            <p:cNvSpPr/>
            <p:nvPr/>
          </p:nvSpPr>
          <p:spPr>
            <a:xfrm flipH="true" flipV="false" rot="0">
              <a:off x="0" y="0"/>
              <a:ext cx="1635569" cy="933420"/>
            </a:xfrm>
            <a:custGeom>
              <a:avLst/>
              <a:gdLst/>
              <a:ahLst/>
              <a:cxnLst/>
              <a:rect r="r" b="b" t="t" l="l"/>
              <a:pathLst>
                <a:path h="933420" w="1635569">
                  <a:moveTo>
                    <a:pt x="1577635" y="0"/>
                  </a:moveTo>
                  <a:lnTo>
                    <a:pt x="57934" y="0"/>
                  </a:lnTo>
                  <a:cubicBezTo>
                    <a:pt x="25938" y="0"/>
                    <a:pt x="0" y="25938"/>
                    <a:pt x="0" y="57934"/>
                  </a:cubicBezTo>
                  <a:lnTo>
                    <a:pt x="0" y="875486"/>
                  </a:lnTo>
                  <a:cubicBezTo>
                    <a:pt x="0" y="890851"/>
                    <a:pt x="6104" y="905587"/>
                    <a:pt x="16968" y="916452"/>
                  </a:cubicBezTo>
                  <a:cubicBezTo>
                    <a:pt x="27833" y="927316"/>
                    <a:pt x="42569" y="933420"/>
                    <a:pt x="57934" y="933420"/>
                  </a:cubicBezTo>
                  <a:lnTo>
                    <a:pt x="1577635" y="933420"/>
                  </a:lnTo>
                  <a:cubicBezTo>
                    <a:pt x="1593000" y="933420"/>
                    <a:pt x="1607736" y="927316"/>
                    <a:pt x="1618601" y="916452"/>
                  </a:cubicBezTo>
                  <a:cubicBezTo>
                    <a:pt x="1629465" y="905587"/>
                    <a:pt x="1635569" y="890851"/>
                    <a:pt x="1635569" y="875486"/>
                  </a:cubicBezTo>
                  <a:lnTo>
                    <a:pt x="1635569" y="57934"/>
                  </a:lnTo>
                  <a:cubicBezTo>
                    <a:pt x="1635569" y="42569"/>
                    <a:pt x="1629465" y="27833"/>
                    <a:pt x="1618601" y="16968"/>
                  </a:cubicBezTo>
                  <a:cubicBezTo>
                    <a:pt x="1607736" y="6104"/>
                    <a:pt x="1593000" y="0"/>
                    <a:pt x="1577635" y="0"/>
                  </a:cubicBezTo>
                  <a:close/>
                </a:path>
              </a:pathLst>
            </a:custGeom>
            <a:blipFill>
              <a:blip r:embed="rId6"/>
              <a:stretch>
                <a:fillRect l="-4853" t="-28315" r="-4853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592426" y="659090"/>
            <a:ext cx="166255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56548" y="661303"/>
            <a:ext cx="1907082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64171" y="661303"/>
            <a:ext cx="158919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97756" y="659090"/>
            <a:ext cx="2224975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Others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27093" y="3257403"/>
            <a:ext cx="7123879" cy="5382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9747" indent="-364874" lvl="1">
              <a:lnSpc>
                <a:spcPts val="4732"/>
              </a:lnSpc>
              <a:buFont typeface="Arial"/>
              <a:buChar char="•"/>
            </a:pPr>
            <a:r>
              <a:rPr lang="en-US" sz="3380" spc="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Modulo de empleados</a:t>
            </a:r>
          </a:p>
          <a:p>
            <a:pPr algn="just">
              <a:lnSpc>
                <a:spcPts val="4732"/>
              </a:lnSpc>
            </a:pPr>
          </a:p>
          <a:p>
            <a:pPr algn="just" marL="729747" indent="-364874" lvl="1">
              <a:lnSpc>
                <a:spcPts val="4732"/>
              </a:lnSpc>
              <a:buFont typeface="Arial"/>
              <a:buChar char="•"/>
            </a:pPr>
            <a:r>
              <a:rPr lang="en-US" sz="3380" spc="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Modulo de cargos</a:t>
            </a:r>
          </a:p>
          <a:p>
            <a:pPr algn="just">
              <a:lnSpc>
                <a:spcPts val="4732"/>
              </a:lnSpc>
            </a:pPr>
          </a:p>
          <a:p>
            <a:pPr algn="just" marL="729747" indent="-364874" lvl="1">
              <a:lnSpc>
                <a:spcPts val="4732"/>
              </a:lnSpc>
              <a:buFont typeface="Arial"/>
              <a:buChar char="•"/>
            </a:pPr>
            <a:r>
              <a:rPr lang="en-US" sz="3380" spc="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Modulo de asistencias</a:t>
            </a:r>
          </a:p>
          <a:p>
            <a:pPr algn="just">
              <a:lnSpc>
                <a:spcPts val="4732"/>
              </a:lnSpc>
            </a:pPr>
          </a:p>
          <a:p>
            <a:pPr algn="just" marL="729747" indent="-364874" lvl="1">
              <a:lnSpc>
                <a:spcPts val="4732"/>
              </a:lnSpc>
              <a:buFont typeface="Arial"/>
              <a:buChar char="•"/>
            </a:pPr>
            <a:r>
              <a:rPr lang="en-US" sz="3380" spc="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Modulo de calculo de pago</a:t>
            </a:r>
          </a:p>
          <a:p>
            <a:pPr algn="just">
              <a:lnSpc>
                <a:spcPts val="4732"/>
              </a:lnSpc>
            </a:pPr>
          </a:p>
          <a:p>
            <a:pPr algn="just" marL="729747" indent="-364874" lvl="1">
              <a:lnSpc>
                <a:spcPts val="4732"/>
              </a:lnSpc>
              <a:buFont typeface="Arial"/>
              <a:buChar char="•"/>
            </a:pPr>
            <a:r>
              <a:rPr lang="en-US" sz="3380" spc="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Módulo de Consultas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56376" y="2635028"/>
            <a:ext cx="5953713" cy="1416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REQUERIMIENTOS FUNCIONALES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-5400000">
            <a:off x="-755771" y="-136158"/>
            <a:ext cx="8558066" cy="8573655"/>
          </a:xfrm>
          <a:custGeom>
            <a:avLst/>
            <a:gdLst/>
            <a:ahLst/>
            <a:cxnLst/>
            <a:rect r="r" b="b" t="t" l="l"/>
            <a:pathLst>
              <a:path h="8573655" w="8558066">
                <a:moveTo>
                  <a:pt x="0" y="8573655"/>
                </a:moveTo>
                <a:lnTo>
                  <a:pt x="8558066" y="8573655"/>
                </a:lnTo>
                <a:lnTo>
                  <a:pt x="8558066" y="0"/>
                </a:lnTo>
                <a:lnTo>
                  <a:pt x="0" y="0"/>
                </a:lnTo>
                <a:lnTo>
                  <a:pt x="0" y="85736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92426" y="659090"/>
            <a:ext cx="166255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56548" y="661303"/>
            <a:ext cx="1907082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64171" y="661303"/>
            <a:ext cx="158919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97756" y="659090"/>
            <a:ext cx="2224975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Others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05</a:t>
            </a:r>
          </a:p>
        </p:txBody>
      </p:sp>
      <p:sp>
        <p:nvSpPr>
          <p:cNvPr name="Freeform 11" id="11"/>
          <p:cNvSpPr/>
          <p:nvPr/>
        </p:nvSpPr>
        <p:spPr>
          <a:xfrm flipH="false" flipV="true" rot="0">
            <a:off x="9793293" y="5707415"/>
            <a:ext cx="7358247" cy="7358247"/>
          </a:xfrm>
          <a:custGeom>
            <a:avLst/>
            <a:gdLst/>
            <a:ahLst/>
            <a:cxnLst/>
            <a:rect r="r" b="b" t="t" l="l"/>
            <a:pathLst>
              <a:path h="7358247" w="7358247">
                <a:moveTo>
                  <a:pt x="0" y="7358246"/>
                </a:moveTo>
                <a:lnTo>
                  <a:pt x="7358246" y="7358246"/>
                </a:lnTo>
                <a:lnTo>
                  <a:pt x="7358246" y="0"/>
                </a:lnTo>
                <a:lnTo>
                  <a:pt x="0" y="0"/>
                </a:lnTo>
                <a:lnTo>
                  <a:pt x="0" y="735824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91552" y="3532028"/>
            <a:ext cx="5738142" cy="465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Todo empleado activo debe de tener un cargo y salario base.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No se deben de permitir asistencias duplicadas para la misma fecha y empleado.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Los empleados inactivos no pueden registrar asistencias nuevas.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El pago mensual se calculará según los días/horas efectivamente trabajadas.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Los registros históricos no se eliminan, se conservan para trazabilidad.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1552" y="1450211"/>
            <a:ext cx="5152572" cy="1416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CONDICIONES DE LA EMPRESA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-5400000">
            <a:off x="-1413824" y="-279474"/>
            <a:ext cx="8558066" cy="8573655"/>
          </a:xfrm>
          <a:custGeom>
            <a:avLst/>
            <a:gdLst/>
            <a:ahLst/>
            <a:cxnLst/>
            <a:rect r="r" b="b" t="t" l="l"/>
            <a:pathLst>
              <a:path h="8573655" w="8558066">
                <a:moveTo>
                  <a:pt x="0" y="8573654"/>
                </a:moveTo>
                <a:lnTo>
                  <a:pt x="8558066" y="8573654"/>
                </a:lnTo>
                <a:lnTo>
                  <a:pt x="8558066" y="0"/>
                </a:lnTo>
                <a:lnTo>
                  <a:pt x="0" y="0"/>
                </a:lnTo>
                <a:lnTo>
                  <a:pt x="0" y="85736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1497756" y="7411878"/>
            <a:ext cx="5653784" cy="5653784"/>
          </a:xfrm>
          <a:custGeom>
            <a:avLst/>
            <a:gdLst/>
            <a:ahLst/>
            <a:cxnLst/>
            <a:rect r="r" b="b" t="t" l="l"/>
            <a:pathLst>
              <a:path h="5653784" w="5653784">
                <a:moveTo>
                  <a:pt x="0" y="5653783"/>
                </a:moveTo>
                <a:lnTo>
                  <a:pt x="5653783" y="5653783"/>
                </a:lnTo>
                <a:lnTo>
                  <a:pt x="5653783" y="0"/>
                </a:lnTo>
                <a:lnTo>
                  <a:pt x="0" y="0"/>
                </a:lnTo>
                <a:lnTo>
                  <a:pt x="0" y="565378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99184" y="1361994"/>
            <a:ext cx="10662793" cy="8876775"/>
          </a:xfrm>
          <a:custGeom>
            <a:avLst/>
            <a:gdLst/>
            <a:ahLst/>
            <a:cxnLst/>
            <a:rect r="r" b="b" t="t" l="l"/>
            <a:pathLst>
              <a:path h="8876775" w="10662793">
                <a:moveTo>
                  <a:pt x="0" y="0"/>
                </a:moveTo>
                <a:lnTo>
                  <a:pt x="10662793" y="0"/>
                </a:lnTo>
                <a:lnTo>
                  <a:pt x="10662793" y="8876776"/>
                </a:lnTo>
                <a:lnTo>
                  <a:pt x="0" y="88767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838009" y="688975"/>
            <a:ext cx="1421291" cy="33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8080" y="385725"/>
            <a:ext cx="12881280" cy="72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DIAGRAMA ENTIDAD RELACIÓN LOGICO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-5400000">
            <a:off x="-1413824" y="-279474"/>
            <a:ext cx="8558066" cy="8573655"/>
          </a:xfrm>
          <a:custGeom>
            <a:avLst/>
            <a:gdLst/>
            <a:ahLst/>
            <a:cxnLst/>
            <a:rect r="r" b="b" t="t" l="l"/>
            <a:pathLst>
              <a:path h="8573655" w="8558066">
                <a:moveTo>
                  <a:pt x="0" y="8573654"/>
                </a:moveTo>
                <a:lnTo>
                  <a:pt x="8558066" y="8573654"/>
                </a:lnTo>
                <a:lnTo>
                  <a:pt x="8558066" y="0"/>
                </a:lnTo>
                <a:lnTo>
                  <a:pt x="0" y="0"/>
                </a:lnTo>
                <a:lnTo>
                  <a:pt x="0" y="85736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1497756" y="7411878"/>
            <a:ext cx="5653784" cy="5653784"/>
          </a:xfrm>
          <a:custGeom>
            <a:avLst/>
            <a:gdLst/>
            <a:ahLst/>
            <a:cxnLst/>
            <a:rect r="r" b="b" t="t" l="l"/>
            <a:pathLst>
              <a:path h="5653784" w="5653784">
                <a:moveTo>
                  <a:pt x="0" y="5653783"/>
                </a:moveTo>
                <a:lnTo>
                  <a:pt x="5653783" y="5653783"/>
                </a:lnTo>
                <a:lnTo>
                  <a:pt x="5653783" y="0"/>
                </a:lnTo>
                <a:lnTo>
                  <a:pt x="0" y="0"/>
                </a:lnTo>
                <a:lnTo>
                  <a:pt x="0" y="565378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359943" y="1305346"/>
            <a:ext cx="9817009" cy="8528526"/>
          </a:xfrm>
          <a:custGeom>
            <a:avLst/>
            <a:gdLst/>
            <a:ahLst/>
            <a:cxnLst/>
            <a:rect r="r" b="b" t="t" l="l"/>
            <a:pathLst>
              <a:path h="8528526" w="9817009">
                <a:moveTo>
                  <a:pt x="0" y="0"/>
                </a:moveTo>
                <a:lnTo>
                  <a:pt x="9817009" y="0"/>
                </a:lnTo>
                <a:lnTo>
                  <a:pt x="9817009" y="8528526"/>
                </a:lnTo>
                <a:lnTo>
                  <a:pt x="0" y="85285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838009" y="688975"/>
            <a:ext cx="1421291" cy="33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8080" y="385725"/>
            <a:ext cx="7556278" cy="72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DIAGRAMA DE CLASES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-5400000">
            <a:off x="-4672202" y="-2252465"/>
            <a:ext cx="8558066" cy="8573655"/>
          </a:xfrm>
          <a:custGeom>
            <a:avLst/>
            <a:gdLst/>
            <a:ahLst/>
            <a:cxnLst/>
            <a:rect r="r" b="b" t="t" l="l"/>
            <a:pathLst>
              <a:path h="8573655" w="8558066">
                <a:moveTo>
                  <a:pt x="0" y="8573654"/>
                </a:moveTo>
                <a:lnTo>
                  <a:pt x="8558066" y="8573654"/>
                </a:lnTo>
                <a:lnTo>
                  <a:pt x="8558066" y="0"/>
                </a:lnTo>
                <a:lnTo>
                  <a:pt x="0" y="0"/>
                </a:lnTo>
                <a:lnTo>
                  <a:pt x="0" y="85736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2020093" y="5548144"/>
            <a:ext cx="7420312" cy="7420312"/>
          </a:xfrm>
          <a:custGeom>
            <a:avLst/>
            <a:gdLst/>
            <a:ahLst/>
            <a:cxnLst/>
            <a:rect r="r" b="b" t="t" l="l"/>
            <a:pathLst>
              <a:path h="7420312" w="7420312">
                <a:moveTo>
                  <a:pt x="0" y="7420312"/>
                </a:moveTo>
                <a:lnTo>
                  <a:pt x="7420312" y="7420312"/>
                </a:lnTo>
                <a:lnTo>
                  <a:pt x="7420312" y="0"/>
                </a:lnTo>
                <a:lnTo>
                  <a:pt x="0" y="0"/>
                </a:lnTo>
                <a:lnTo>
                  <a:pt x="0" y="742031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92426" y="659090"/>
            <a:ext cx="166255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56548" y="661303"/>
            <a:ext cx="1907082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64171" y="661303"/>
            <a:ext cx="1589190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97756" y="659090"/>
            <a:ext cx="2224975" cy="34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Others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730249" y="663200"/>
            <a:ext cx="1421291" cy="33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43969" y="2145478"/>
            <a:ext cx="5741000" cy="986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Conclusiones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81748" y="4450728"/>
            <a:ext cx="9256683" cy="365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4"/>
              </a:lnSpc>
              <a:spcBef>
                <a:spcPct val="0"/>
              </a:spcBef>
            </a:pPr>
            <a:r>
              <a:rPr lang="en-US" sz="3496" spc="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Con este sistema se solucionan los problemas de optimización, deficiencia y errores humanos. dando a la una herramienta para agilizar procesos de gestión y garantizar la fiabilidad de los procesos de cálculos y administrativos.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768349" y="663200"/>
            <a:ext cx="1421291" cy="33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9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400000">
            <a:off x="5443169" y="-2557831"/>
            <a:ext cx="7401663" cy="18288000"/>
          </a:xfrm>
          <a:custGeom>
            <a:avLst/>
            <a:gdLst/>
            <a:ahLst/>
            <a:cxnLst/>
            <a:rect r="r" b="b" t="t" l="l"/>
            <a:pathLst>
              <a:path h="18288000" w="7401663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016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67653" y="3442509"/>
            <a:ext cx="8370898" cy="2696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62"/>
              </a:lnSpc>
              <a:spcBef>
                <a:spcPct val="0"/>
              </a:spcBef>
            </a:pPr>
            <a:r>
              <a:rPr lang="en-US" sz="15901" spc="-74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Gracias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96029" y="8835324"/>
            <a:ext cx="1274721" cy="42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DAG4c4-5LIU</dc:identifier>
  <dcterms:modified xsi:type="dcterms:W3CDTF">2011-08-01T06:04:30Z</dcterms:modified>
  <cp:revision>1</cp:revision>
  <dc:title>Introduction to</dc:title>
</cp:coreProperties>
</file>